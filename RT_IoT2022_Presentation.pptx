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Arial" panose="020B0604020202020204"/>
              </a:rPr>
              <a:t>Train / Validation / Test Split</a:t>
            </a:r>
            <a:endParaRPr sz="1400" b="0" i="0" u="none" strike="noStrike">
              <a:solidFill>
                <a:srgbClr val="1B243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(70%)</c:v>
                </c:pt>
                <c:pt idx="1">
                  <c:v>Validation (15%)</c:v>
                </c:pt>
                <c:pt idx="2">
                  <c:v>Test (15%)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60d9060-4500-4fc7-adeb-6898f1939ef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0" i="0" u="none" strike="noStrike" kern="1200" baseline="0">
                    <a:solidFill>
                      <a:srgbClr val="1B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MLP
Classifier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99.05</c:v>
                </c:pt>
                <c:pt idx="1">
                  <c:v>99.6</c:v>
                </c:pt>
                <c:pt idx="2">
                  <c:v>99.88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8.5"/>
        </c:scaling>
        <c:delete val="0"/>
        <c:axPos val="l"/>
        <c:majorGridlines>
          <c:spPr>
            <a:ln w="12700" cap="flat" cmpd="sng" algn="ctr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C6B73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C6B73"/>
                    </a:solidFill>
                    <a:latin typeface="Arial" panose="020B0604020202020204"/>
                  </a:rPr>
                  <a:t>Accuracy (%)</a:t>
                </a:r>
                <a:endParaRPr sz="1100" b="0" i="0" u="none" strike="noStrike">
                  <a:solidFill>
                    <a:srgbClr val="5C6B73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C6B7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5dcad00-2872-4afc-bde7-08f384a5b07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6283E"/>
          </a:solidFill>
        </p:spPr>
      </p:sp>
      <p:sp>
        <p:nvSpPr>
          <p:cNvPr id="4" name="Shape 2"/>
          <p:cNvSpPr/>
          <p:nvPr/>
        </p:nvSpPr>
        <p:spPr>
          <a:xfrm>
            <a:off x="9299448" y="2240280"/>
            <a:ext cx="2377440" cy="23774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034" y="2810866"/>
            <a:ext cx="1236269" cy="12362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445 · MACHINE LEARNING · SECTION 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RT-IoT2022 Multi-Class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IoT Attack Detection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Machine Learning Pipeline for Real-Time IoT Network Intrusion Detection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6949440" cy="0"/>
          </a:xfrm>
          <a:prstGeom prst="line">
            <a:avLst/>
          </a:prstGeom>
          <a:noFill/>
          <a:ln w="12700">
            <a:solidFill>
              <a:srgbClr val="2B3E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5262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Jilan Samiuddin
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4406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 Mustafiz  ·  Md. Shariar Islam Mrida  ·  Tarif Islam
</a:t>
            </a:r>
            <a:r>
              <a:rPr lang="en-US" sz="12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 29,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7"/>
          </a:solidFill>
        </p:spPr>
      </p:sp>
      <p:sp>
        <p:nvSpPr>
          <p:cNvPr id="5" name="Text 3"/>
          <p:cNvSpPr/>
          <p:nvPr/>
        </p:nvSpPr>
        <p:spPr>
          <a:xfrm>
            <a:off x="868680" y="18288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12 attack classes · 123,117 flows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7"/>
          </a:solidFill>
        </p:spPr>
      </p:sp>
      <p:sp>
        <p:nvSpPr>
          <p:cNvPr id="9" name="Text 7"/>
          <p:cNvSpPr/>
          <p:nvPr/>
        </p:nvSpPr>
        <p:spPr>
          <a:xfrm>
            <a:off x="4663440" y="18288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63440" y="23134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&amp; EDA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Duplicates, constant features, class balance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7"/>
          </a:solidFill>
        </p:spPr>
      </p:sp>
      <p:sp>
        <p:nvSpPr>
          <p:cNvPr id="13" name="Text 11"/>
          <p:cNvSpPr/>
          <p:nvPr/>
        </p:nvSpPr>
        <p:spPr>
          <a:xfrm>
            <a:off x="8458200" y="18288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58200" y="23134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&amp; Split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6517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Encoding, Train / Validation /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7"/>
          </a:solidFill>
        </p:spPr>
      </p:sp>
      <p:sp>
        <p:nvSpPr>
          <p:cNvPr id="17" name="Text 15"/>
          <p:cNvSpPr/>
          <p:nvPr/>
        </p:nvSpPr>
        <p:spPr>
          <a:xfrm>
            <a:off x="868680" y="34747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8680" y="39593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ML Models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· MLP · Random Forest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337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7"/>
          </a:solidFill>
        </p:spPr>
      </p:sp>
      <p:sp>
        <p:nvSpPr>
          <p:cNvPr id="21" name="Text 19"/>
          <p:cNvSpPr/>
          <p:nvPr/>
        </p:nvSpPr>
        <p:spPr>
          <a:xfrm>
            <a:off x="4663440" y="34747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39593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29768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&amp; test accuracy, Macro F1-score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337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7"/>
          </a:solidFill>
        </p:spPr>
      </p:sp>
      <p:sp>
        <p:nvSpPr>
          <p:cNvPr id="25" name="Text 23"/>
          <p:cNvSpPr/>
          <p:nvPr/>
        </p:nvSpPr>
        <p:spPr>
          <a:xfrm>
            <a:off x="8458200" y="34747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58200" y="39593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Conclusion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429768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risks and future 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IoT Attack Detection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devices are common cyberattack targets: </a:t>
            </a:r>
            <a:r>
              <a:rPr lang="en-US" sz="15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DoS attempts, scanning, and brute-force attacks threaten network security.
</a:t>
            </a: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</a:t>
            </a:r>
            <a:r>
              <a:rPr lang="en-US" sz="15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supervised ML pipeline that classifies real-time IoT network traffic into 12 categories — distinguishing normal traffic from multiple attack types.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281160" y="1645920"/>
            <a:ext cx="1371600" cy="13716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6" name="Image 0" descr="/home/claude/deck/probl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0344" y="1975104"/>
            <a:ext cx="713232" cy="713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32461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</p:spPr>
      </p:sp>
      <p:sp>
        <p:nvSpPr>
          <p:cNvPr id="8" name="Text 5"/>
          <p:cNvSpPr/>
          <p:nvPr/>
        </p:nvSpPr>
        <p:spPr>
          <a:xfrm>
            <a:off x="7315200" y="335584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235440" y="324612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Classes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448056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</p:spPr>
      </p:sp>
      <p:sp>
        <p:nvSpPr>
          <p:cNvPr id="11" name="Text 8"/>
          <p:cNvSpPr/>
          <p:nvPr/>
        </p:nvSpPr>
        <p:spPr>
          <a:xfrm>
            <a:off x="7315200" y="459028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123,117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235440" y="448056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Flows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40880" y="571500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</p:spPr>
      </p:sp>
      <p:sp>
        <p:nvSpPr>
          <p:cNvPr id="14" name="Text 11"/>
          <p:cNvSpPr/>
          <p:nvPr/>
        </p:nvSpPr>
        <p:spPr>
          <a:xfrm>
            <a:off x="7315200" y="582472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84–85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235440" y="571500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Features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RT-IoT2022 Dataset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datas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795528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55778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UCI Machine Learning Repository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Dataset Type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Tabular / Multivariate / Sequential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Instances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123,117 rows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Raw Features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84–85 columns (incl. target)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 Classes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Multi-class IoT traffic / attack classification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Cybersecurity / IoT Network Traffic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869680" y="173736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0D1B2A"/>
          </a:solidFill>
        </p:spPr>
      </p:sp>
      <p:sp>
        <p:nvSpPr>
          <p:cNvPr id="8" name="Text 4"/>
          <p:cNvSpPr/>
          <p:nvPr/>
        </p:nvSpPr>
        <p:spPr>
          <a:xfrm>
            <a:off x="9098280" y="20116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Real, live-captured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network traffic —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benign and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behavior.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098280" y="42062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dataset: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UCI ID #942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Flow Feature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F4F6F7"/>
          </a:solidFill>
        </p:spPr>
      </p:sp>
      <p:sp>
        <p:nvSpPr>
          <p:cNvPr id="5" name="Shape 3"/>
          <p:cNvSpPr/>
          <p:nvPr/>
        </p:nvSpPr>
        <p:spPr>
          <a:xfrm>
            <a:off x="640080" y="1783080"/>
            <a:ext cx="2624328" cy="128016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841248" y="21488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Counts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222199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fwd/bwd_pkts_tot, data_pkts_tot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1783080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F4F6F7"/>
          </a:solidFill>
        </p:spPr>
      </p:sp>
      <p:sp>
        <p:nvSpPr>
          <p:cNvPr id="9" name="Shape 7"/>
          <p:cNvSpPr/>
          <p:nvPr/>
        </p:nvSpPr>
        <p:spPr>
          <a:xfrm>
            <a:off x="3447288" y="1783080"/>
            <a:ext cx="2624328" cy="128016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0" name="Text 8"/>
          <p:cNvSpPr/>
          <p:nvPr/>
        </p:nvSpPr>
        <p:spPr>
          <a:xfrm>
            <a:off x="3648456" y="21488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48456" y="2834640"/>
            <a:ext cx="222199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fwd/bwd_pkts_per_sec, flow_pkts_per_sec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783080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F4F6F7"/>
          </a:solidFill>
        </p:spPr>
      </p:sp>
      <p:sp>
        <p:nvSpPr>
          <p:cNvPr id="13" name="Shape 11"/>
          <p:cNvSpPr/>
          <p:nvPr/>
        </p:nvSpPr>
        <p:spPr>
          <a:xfrm>
            <a:off x="6254496" y="1783080"/>
            <a:ext cx="2624328" cy="128016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4" name="Text 12"/>
          <p:cNvSpPr/>
          <p:nvPr/>
        </p:nvSpPr>
        <p:spPr>
          <a:xfrm>
            <a:off x="6455664" y="21488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 Stats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664" y="2834640"/>
            <a:ext cx="222199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fwd/bwd_header_size_min/max/tot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1704" y="1783080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F4F6F7"/>
          </a:solidFill>
        </p:spPr>
      </p:sp>
      <p:sp>
        <p:nvSpPr>
          <p:cNvPr id="17" name="Shape 15"/>
          <p:cNvSpPr/>
          <p:nvPr/>
        </p:nvSpPr>
        <p:spPr>
          <a:xfrm>
            <a:off x="9061704" y="1783080"/>
            <a:ext cx="2624328" cy="128016"/>
          </a:xfrm>
          <a:prstGeom prst="rect">
            <a:avLst/>
          </a:prstGeom>
          <a:solidFill>
            <a:srgbClr val="16283E"/>
          </a:solidFill>
        </p:spPr>
      </p:sp>
      <p:sp>
        <p:nvSpPr>
          <p:cNvPr id="18" name="Text 16"/>
          <p:cNvSpPr/>
          <p:nvPr/>
        </p:nvSpPr>
        <p:spPr>
          <a:xfrm>
            <a:off x="9262872" y="21488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Counts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2834640"/>
            <a:ext cx="222199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SYN, FIN, RST, ACK, PSH, URG flags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row = one network flow; columns describe its statistical behavior over time.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CLEANING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clea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A896"/>
          </a:solidFill>
        </p:spPr>
      </p:sp>
      <p:sp>
        <p:nvSpPr>
          <p:cNvPr id="7" name="Text 4"/>
          <p:cNvSpPr/>
          <p:nvPr/>
        </p:nvSpPr>
        <p:spPr>
          <a:xfrm>
            <a:off x="640080" y="18288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417320" y="1783080"/>
            <a:ext cx="8595360" cy="1097280"/>
          </a:xfrm>
          <a:prstGeom prst="roundRect">
            <a:avLst>
              <a:gd name="adj" fmla="val 5000"/>
            </a:avLst>
          </a:prstGeom>
          <a:solidFill>
            <a:srgbClr val="F4F6F7"/>
          </a:solidFill>
        </p:spPr>
      </p:sp>
      <p:sp>
        <p:nvSpPr>
          <p:cNvPr id="9" name="Text 6"/>
          <p:cNvSpPr/>
          <p:nvPr/>
        </p:nvSpPr>
        <p:spPr>
          <a:xfrm>
            <a:off x="1691640" y="184708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91640" y="2212848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rows removed to prevent biased performance estimates.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26440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A896"/>
          </a:solidFill>
        </p:spPr>
      </p:sp>
      <p:sp>
        <p:nvSpPr>
          <p:cNvPr id="12" name="Text 9"/>
          <p:cNvSpPr/>
          <p:nvPr/>
        </p:nvSpPr>
        <p:spPr>
          <a:xfrm>
            <a:off x="640080" y="326440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417320" y="3218688"/>
            <a:ext cx="8595360" cy="1097280"/>
          </a:xfrm>
          <a:prstGeom prst="roundRect">
            <a:avLst>
              <a:gd name="adj" fmla="val 5000"/>
            </a:avLst>
          </a:prstGeom>
          <a:solidFill>
            <a:srgbClr val="F4F6F7"/>
          </a:solidFill>
        </p:spPr>
      </p:sp>
      <p:sp>
        <p:nvSpPr>
          <p:cNvPr id="14" name="Text 11"/>
          <p:cNvSpPr/>
          <p:nvPr/>
        </p:nvSpPr>
        <p:spPr>
          <a:xfrm>
            <a:off x="1691640" y="3282696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Constant Columns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91640" y="3648456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with a single value across all rows carry no signal — e.g. bwd_URG_flag_count.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700016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00A896"/>
          </a:solidFill>
        </p:spPr>
      </p:sp>
      <p:sp>
        <p:nvSpPr>
          <p:cNvPr id="17" name="Text 14"/>
          <p:cNvSpPr/>
          <p:nvPr/>
        </p:nvSpPr>
        <p:spPr>
          <a:xfrm>
            <a:off x="640080" y="4700016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417320" y="4654296"/>
            <a:ext cx="8595360" cy="1097280"/>
          </a:xfrm>
          <a:prstGeom prst="roundRect">
            <a:avLst>
              <a:gd name="adj" fmla="val 5000"/>
            </a:avLst>
          </a:prstGeom>
          <a:solidFill>
            <a:srgbClr val="F4F6F7"/>
          </a:solidFill>
        </p:spPr>
      </p:sp>
      <p:sp>
        <p:nvSpPr>
          <p:cNvPr id="19" name="Text 16"/>
          <p:cNvSpPr/>
          <p:nvPr/>
        </p:nvSpPr>
        <p:spPr>
          <a:xfrm>
            <a:off x="1691640" y="4718304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 Categorical Columns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91640" y="5084064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Non-numeric columns converted to numeric form for ML algorithms.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CLEANING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ed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6F7"/>
          </a:solidFill>
        </p:spPr>
      </p:sp>
      <p:sp>
        <p:nvSpPr>
          <p:cNvPr id="7" name="Text 4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EDA Steps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distribution examined across 12 categories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shows typical IoT intrusion class imbalance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heatmap built for numerical features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distribution plots checked for outliers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D1B2A"/>
          </a:solidFill>
        </p:spPr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Macro-Averaged Metrics?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DDE7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model can score high overall accuracy while performing poorly on rare attack classes. Macro F1-score weighs every class equally, so it was prioritized alongside accuracy when comparing models.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Preprocessing &amp; Data Splitting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" y="1737360"/>
          <a:ext cx="49377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19202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</p:spPr>
      </p:sp>
      <p:sp>
        <p:nvSpPr>
          <p:cNvPr id="8" name="Text 4"/>
          <p:cNvSpPr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(70%)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537960" y="23774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fit all three models.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09360" y="315468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</p:spPr>
      </p:sp>
      <p:sp>
        <p:nvSpPr>
          <p:cNvPr id="11" name="Text 7"/>
          <p:cNvSpPr/>
          <p:nvPr/>
        </p:nvSpPr>
        <p:spPr>
          <a:xfrm>
            <a:off x="6537960" y="32461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(15%)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37960" y="36118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compare models and select the best one.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9360" y="438912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</p:spPr>
      </p:sp>
      <p:sp>
        <p:nvSpPr>
          <p:cNvPr id="14" name="Text 10"/>
          <p:cNvSpPr/>
          <p:nvPr/>
        </p:nvSpPr>
        <p:spPr>
          <a:xfrm>
            <a:off x="6537960" y="44805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(15%)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48463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 out; used only once for final evaluation.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·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Models, Three Learning Styles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model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6F7"/>
          </a:solidFill>
        </p:spPr>
      </p:sp>
      <p:sp>
        <p:nvSpPr>
          <p:cNvPr id="7" name="Shape 4"/>
          <p:cNvSpPr/>
          <p:nvPr/>
        </p:nvSpPr>
        <p:spPr>
          <a:xfrm>
            <a:off x="1943100" y="2011680"/>
            <a:ext cx="914400" cy="9144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8" name="Image 1" descr="/home/claude/deck/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56" y="2231136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1089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5204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baseline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Estimates class probabilities from a linear combination of features. Interpretable reference point.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6F7"/>
          </a:solidFill>
        </p:spPr>
      </p:sp>
      <p:sp>
        <p:nvSpPr>
          <p:cNvPr id="13" name="Shape 9"/>
          <p:cNvSpPr/>
          <p:nvPr/>
        </p:nvSpPr>
        <p:spPr>
          <a:xfrm>
            <a:off x="5692140" y="2011680"/>
            <a:ext cx="914400" cy="914400"/>
          </a:xfrm>
          <a:prstGeom prst="ellipse">
            <a:avLst/>
          </a:prstGeom>
          <a:solidFill>
            <a:srgbClr val="00A896"/>
          </a:solidFill>
        </p:spPr>
      </p:sp>
      <p:pic>
        <p:nvPicPr>
          <p:cNvPr id="14" name="Image 2" descr="/home/claude/deck/m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23113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31089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Classifier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0" y="35204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663440" y="397764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Feed-forward network trained over multiple epochs; captures non-linear feature relationships.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17830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6F7"/>
          </a:solidFill>
        </p:spPr>
      </p:sp>
      <p:sp>
        <p:nvSpPr>
          <p:cNvPr id="19" name="Shape 14"/>
          <p:cNvSpPr/>
          <p:nvPr/>
        </p:nvSpPr>
        <p:spPr>
          <a:xfrm>
            <a:off x="9441180" y="2011680"/>
            <a:ext cx="914400" cy="9144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20" name="Image 3" descr="/home/claude/deck/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6" y="223113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31089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21040" y="35204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of trees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412480" y="397764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Aggregates predictions across many trees on bootstrapped data; robust to noise. Best performer.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 Accuracy: 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5" name="Image 0" descr="/home/claude/deck/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640080" y="178308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955280" y="17830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0D1B2A"/>
          </a:solidFill>
        </p:spPr>
      </p:sp>
      <p:sp>
        <p:nvSpPr>
          <p:cNvPr id="8" name="Text 4"/>
          <p:cNvSpPr/>
          <p:nvPr/>
        </p:nvSpPr>
        <p:spPr>
          <a:xfrm>
            <a:off x="818388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wins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183880" y="246888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7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models scored above 99% — the dataset's flow-level features are highly discriminative. Random Forest was selected for final testing.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183880" y="42062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99.88%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8183880" y="5029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validation accuracy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Test Evaluation — Random Forest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6283E"/>
          </a:solidFill>
        </p:spPr>
      </p:sp>
      <p:sp>
        <p:nvSpPr>
          <p:cNvPr id="5" name="Text 3"/>
          <p:cNvSpPr/>
          <p:nvPr/>
        </p:nvSpPr>
        <p:spPr>
          <a:xfrm>
            <a:off x="822960" y="24231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99.83%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Test 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6283E"/>
          </a:solidFill>
        </p:spPr>
      </p:sp>
      <p:sp>
        <p:nvSpPr>
          <p:cNvPr id="8" name="Text 6"/>
          <p:cNvSpPr/>
          <p:nvPr/>
        </p:nvSpPr>
        <p:spPr>
          <a:xfrm>
            <a:off x="4480560" y="24231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0560" y="3794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 F1-score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6283E"/>
          </a:solidFill>
        </p:spPr>
      </p:sp>
      <p:sp>
        <p:nvSpPr>
          <p:cNvPr id="11" name="Text 9"/>
          <p:cNvSpPr/>
          <p:nvPr/>
        </p:nvSpPr>
        <p:spPr>
          <a:xfrm>
            <a:off x="8138160" y="24231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Forest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38160" y="3794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Macro F1-score close to overall accuracy shows the model generalizes across all 12 classes — not just the majority class — including minority attack types.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Class-Wise Performance &amp; Confusions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6F7"/>
          </a:solidFill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Across Categories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precision &amp; recall across almost all 12 traffic categories, including minority attack classes.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and modeling handled the class distribution effectively.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7"/>
          </a:solidFill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Confusion Happens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Misclassifications typically occur between attack types that produce similar network flow signatures — for example, different scanning or flooding variants. The confusion matrix (in the notebook) pinpoints exact class pairs.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·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to Keep in Mind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548640"/>
            <a:ext cx="1005840" cy="100584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5" name="Image 0" descr="/home/claude/deck/limit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962" y="79004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256032" cy="256032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7" name="Text 4"/>
          <p:cNvSpPr/>
          <p:nvPr/>
        </p:nvSpPr>
        <p:spPr>
          <a:xfrm>
            <a:off x="640080" y="18745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175564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high accuracy (99%+) suggests classes are highly separable in this curated dataset — real, unfiltered traffic may perform lower.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660904"/>
            <a:ext cx="256032" cy="256032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10" name="Text 7"/>
          <p:cNvSpPr/>
          <p:nvPr/>
        </p:nvSpPr>
        <p:spPr>
          <a:xfrm>
            <a:off x="640080" y="26609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2542032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 can make accuracy alone optimistic; rare classes with few samples still yield unstable per-class metrics.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447288"/>
            <a:ext cx="256032" cy="256032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13" name="Text 10"/>
          <p:cNvSpPr/>
          <p:nvPr/>
        </p:nvSpPr>
        <p:spPr>
          <a:xfrm>
            <a:off x="640080" y="34472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3328416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is less interpretable than Logistic Regression, harder to justify individual security decisions.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33672"/>
            <a:ext cx="256032" cy="256032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16" name="Text 13"/>
          <p:cNvSpPr/>
          <p:nvPr/>
        </p:nvSpPr>
        <p:spPr>
          <a:xfrm>
            <a:off x="640080" y="42336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41148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reflects one point in time; new/zero-day attacks are not represented and would likely be misclassified.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020056"/>
            <a:ext cx="256032" cy="256032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19" name="Text 16"/>
          <p:cNvSpPr/>
          <p:nvPr/>
        </p:nvSpPr>
        <p:spPr>
          <a:xfrm>
            <a:off x="640080" y="50200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" y="4901184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extensive hyperparameter tuning was performed beyond validation-based model selection.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6283E"/>
          </a:solidFill>
        </p:spPr>
      </p:sp>
      <p:sp>
        <p:nvSpPr>
          <p:cNvPr id="3" name="Shape 1"/>
          <p:cNvSpPr/>
          <p:nvPr/>
        </p:nvSpPr>
        <p:spPr>
          <a:xfrm>
            <a:off x="9390888" y="2331720"/>
            <a:ext cx="2194560" cy="219456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4" name="Image 0" descr="/home/claude/deck/conclu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582" y="2858414"/>
            <a:ext cx="1141171" cy="11411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Forest: The Recommended Model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DDE7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pipeline — loading, cleaning, EDA, preprocessing, and model comparison — identified Random Forest as the best performer: 99.83% test accuracy and 0.96 Macro F1-score.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75895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 tuning (e.g., grid search on tree depth &amp; estimator count)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feature engineering from raw network flows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against newer or adversarial attack traffic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RT-IoT2022 · IoT Attack Detection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5629</Words>
  <Application>WPS Presentation</Application>
  <PresentationFormat>On-screen Show (16:9)</PresentationFormat>
  <Paragraphs>338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User</cp:lastModifiedBy>
  <cp:revision>2</cp:revision>
  <dcterms:created xsi:type="dcterms:W3CDTF">2026-08-28T15:49:00Z</dcterms:created>
  <dcterms:modified xsi:type="dcterms:W3CDTF">2026-08-28T16:21:21Z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177D2CC8A9E74C32BD9B4B9D6BF7120A_12</vt:lpwstr>
  </property>
  <property fmtid="{D5CDD505-2E9C-101B-9397-08002B2CF9AE}" pid="3" name="KSOProductBuildVer">
    <vt:lpwstr>1033-12.1.0.28032</vt:lpwstr>
  </property>
</Properties>
</file>